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7" r:id="rId5"/>
    <p:sldId id="264" r:id="rId6"/>
    <p:sldId id="279" r:id="rId7"/>
    <p:sldId id="258" r:id="rId8"/>
    <p:sldId id="261" r:id="rId9"/>
    <p:sldId id="286" r:id="rId10"/>
    <p:sldId id="285" r:id="rId11"/>
    <p:sldId id="284" r:id="rId12"/>
    <p:sldId id="268" r:id="rId13"/>
    <p:sldId id="274" r:id="rId14"/>
    <p:sldId id="281" r:id="rId15"/>
    <p:sldId id="277" r:id="rId16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336">
          <p15:clr>
            <a:srgbClr val="A4A3A4"/>
          </p15:clr>
        </p15:guide>
        <p15:guide id="5" orient="horz" pos="1920">
          <p15:clr>
            <a:srgbClr val="A4A3A4"/>
          </p15:clr>
        </p15:guide>
        <p15:guide id="6" orient="horz" pos="3984">
          <p15:clr>
            <a:srgbClr val="A4A3A4"/>
          </p15:clr>
        </p15:guide>
        <p15:guide id="7" orient="horz" pos="1152">
          <p15:clr>
            <a:srgbClr val="A4A3A4"/>
          </p15:clr>
        </p15:guide>
        <p15:guide id="8" pos="3839">
          <p15:clr>
            <a:srgbClr val="A4A3A4"/>
          </p15:clr>
        </p15:guide>
        <p15:guide id="9" pos="671">
          <p15:clr>
            <a:srgbClr val="A4A3A4"/>
          </p15:clr>
        </p15:guide>
        <p15:guide id="10" pos="7007">
          <p15:clr>
            <a:srgbClr val="A4A3A4"/>
          </p15:clr>
        </p15:guide>
        <p15:guide id="11" pos="6143">
          <p15:clr>
            <a:srgbClr val="A4A3A4"/>
          </p15:clr>
        </p15:guide>
        <p15:guide id="12" pos="3263">
          <p15:clr>
            <a:srgbClr val="A4A3A4"/>
          </p15:clr>
        </p15:guide>
        <p15:guide id="13" pos="7391">
          <p15:clr>
            <a:srgbClr val="A4A3A4"/>
          </p15:clr>
        </p15:guide>
        <p15:guide id="14" pos="369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A5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BD3F8E-CBAF-3EDD-BB55-7011279783FF}" v="620" dt="2026-05-01T12:25:04.131"/>
    <p1510:client id="{A689805B-A053-233C-D8F0-E7EC0F8DF878}" v="10" dt="2026-05-01T13:46:20.056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4879" autoAdjust="0"/>
  </p:normalViewPr>
  <p:slideViewPr>
    <p:cSldViewPr showGuides="1">
      <p:cViewPr>
        <p:scale>
          <a:sx n="100" d="100"/>
          <a:sy n="100" d="100"/>
        </p:scale>
        <p:origin x="2496" y="121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5/1/2026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5/1/2026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24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984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 with Phone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45C0889D-74A2-974C-BB02-FA1F7BE369E2}"/>
              </a:ext>
            </a:extLst>
          </p:cNvPr>
          <p:cNvSpPr/>
          <p:nvPr userDrawn="1"/>
        </p:nvSpPr>
        <p:spPr>
          <a:xfrm>
            <a:off x="6704012" y="1148418"/>
            <a:ext cx="4561165" cy="4561165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DAE856D-3749-4D3B-9F33-A46528589F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32079" y="598170"/>
            <a:ext cx="3096221" cy="5661660"/>
          </a:xfrm>
          <a:prstGeom prst="rect">
            <a:avLst/>
          </a:prstGeom>
        </p:spPr>
      </p:pic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10818812" y="535307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Cross 10">
            <a:extLst>
              <a:ext uri="{FF2B5EF4-FFF2-40B4-BE49-F238E27FC236}">
                <a16:creationId xmlns:a16="http://schemas.microsoft.com/office/drawing/2014/main" id="{471314FF-EA0B-8DDE-B558-885A876FB0D5}"/>
              </a:ext>
            </a:extLst>
          </p:cNvPr>
          <p:cNvSpPr/>
          <p:nvPr userDrawn="1"/>
        </p:nvSpPr>
        <p:spPr>
          <a:xfrm>
            <a:off x="6335910" y="805517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6372818" cy="40386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EFF6782-6ABD-DEB0-6FD1-1263A5469A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8012" y="4876800"/>
            <a:ext cx="6372817" cy="1104898"/>
          </a:xfrm>
        </p:spPr>
        <p:txBody>
          <a:bodyPr anchor="t">
            <a:normAutofit/>
          </a:bodyPr>
          <a:lstStyle>
            <a:lvl1pPr marL="45720" indent="0" algn="l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BA3F629-2405-DC90-C212-6F3D52B95D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65046" y="883471"/>
            <a:ext cx="2439096" cy="5091059"/>
          </a:xfrm>
          <a:custGeom>
            <a:avLst/>
            <a:gdLst>
              <a:gd name="connsiteX0" fmla="*/ 340815 w 2439096"/>
              <a:gd name="connsiteY0" fmla="*/ 0 h 5091059"/>
              <a:gd name="connsiteX1" fmla="*/ 2098281 w 2439096"/>
              <a:gd name="connsiteY1" fmla="*/ 0 h 5091059"/>
              <a:gd name="connsiteX2" fmla="*/ 2439096 w 2439096"/>
              <a:gd name="connsiteY2" fmla="*/ 340815 h 5091059"/>
              <a:gd name="connsiteX3" fmla="*/ 2439096 w 2439096"/>
              <a:gd name="connsiteY3" fmla="*/ 495300 h 5091059"/>
              <a:gd name="connsiteX4" fmla="*/ 2439096 w 2439096"/>
              <a:gd name="connsiteY4" fmla="*/ 4750244 h 5091059"/>
              <a:gd name="connsiteX5" fmla="*/ 2098281 w 2439096"/>
              <a:gd name="connsiteY5" fmla="*/ 5091059 h 5091059"/>
              <a:gd name="connsiteX6" fmla="*/ 340815 w 2439096"/>
              <a:gd name="connsiteY6" fmla="*/ 5091059 h 5091059"/>
              <a:gd name="connsiteX7" fmla="*/ 0 w 2439096"/>
              <a:gd name="connsiteY7" fmla="*/ 4750244 h 5091059"/>
              <a:gd name="connsiteX8" fmla="*/ 0 w 2439096"/>
              <a:gd name="connsiteY8" fmla="*/ 495300 h 5091059"/>
              <a:gd name="connsiteX9" fmla="*/ 0 w 2439096"/>
              <a:gd name="connsiteY9" fmla="*/ 340815 h 5091059"/>
              <a:gd name="connsiteX10" fmla="*/ 340815 w 2439096"/>
              <a:gd name="connsiteY10" fmla="*/ 0 h 5091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39096" h="5091059">
                <a:moveTo>
                  <a:pt x="340815" y="0"/>
                </a:moveTo>
                <a:lnTo>
                  <a:pt x="2098281" y="0"/>
                </a:lnTo>
                <a:cubicBezTo>
                  <a:pt x="2286508" y="0"/>
                  <a:pt x="2439096" y="152588"/>
                  <a:pt x="2439096" y="340815"/>
                </a:cubicBezTo>
                <a:lnTo>
                  <a:pt x="2439096" y="495300"/>
                </a:lnTo>
                <a:lnTo>
                  <a:pt x="2439096" y="4750244"/>
                </a:lnTo>
                <a:cubicBezTo>
                  <a:pt x="2439096" y="4938471"/>
                  <a:pt x="2286508" y="5091059"/>
                  <a:pt x="2098281" y="5091059"/>
                </a:cubicBezTo>
                <a:lnTo>
                  <a:pt x="340815" y="5091059"/>
                </a:lnTo>
                <a:cubicBezTo>
                  <a:pt x="152588" y="5091059"/>
                  <a:pt x="0" y="4938471"/>
                  <a:pt x="0" y="4750244"/>
                </a:cubicBezTo>
                <a:lnTo>
                  <a:pt x="0" y="495300"/>
                </a:lnTo>
                <a:lnTo>
                  <a:pt x="0" y="340815"/>
                </a:lnTo>
                <a:cubicBezTo>
                  <a:pt x="0" y="152588"/>
                  <a:pt x="152588" y="0"/>
                  <a:pt x="34081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4737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1C3968AF-EB74-3889-A3BA-E759CFD47B12}"/>
              </a:ext>
            </a:extLst>
          </p:cNvPr>
          <p:cNvSpPr/>
          <p:nvPr userDrawn="1"/>
        </p:nvSpPr>
        <p:spPr>
          <a:xfrm>
            <a:off x="3275012" y="609600"/>
            <a:ext cx="5638800" cy="5638800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6838CB-A9BC-715A-18FE-06CCE4A9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454B8043-D1DD-E2EA-772B-D8D38CD37D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022021"/>
            <a:ext cx="4443413" cy="281396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9436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7724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60120" indent="-2286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anose="020B0604020202020204" pitchFamily="34" charset="0"/>
              <a:buChar char="•"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242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4264E2-719A-1CB0-CD0C-B90AD51C2384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ross 8">
            <a:extLst>
              <a:ext uri="{FF2B5EF4-FFF2-40B4-BE49-F238E27FC236}">
                <a16:creationId xmlns:a16="http://schemas.microsoft.com/office/drawing/2014/main" id="{7A96460A-640C-6025-AAB5-344AB2A405D1}"/>
              </a:ext>
            </a:extLst>
          </p:cNvPr>
          <p:cNvSpPr/>
          <p:nvPr userDrawn="1"/>
        </p:nvSpPr>
        <p:spPr>
          <a:xfrm>
            <a:off x="8151812" y="56705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60D2C4-E19C-088F-24AA-92F462879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8F9375-0CED-7A7E-FAD2-5469CE00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3" name="Footer Placeholder 4">
            <a:extLst>
              <a:ext uri="{FF2B5EF4-FFF2-40B4-BE49-F238E27FC236}">
                <a16:creationId xmlns:a16="http://schemas.microsoft.com/office/drawing/2014/main" id="{C1791A8D-D5A1-DB56-D6C5-A82DB0F26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BE9D901E-58D4-3C47-262B-EA276B7F1D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Font typeface="Arial" panose="020B0604020202020204" pitchFamily="34" charset="0"/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86C1A7B9-E319-130B-0CC8-DCB01B51A087}"/>
              </a:ext>
            </a:extLst>
          </p:cNvPr>
          <p:cNvSpPr/>
          <p:nvPr userDrawn="1"/>
        </p:nvSpPr>
        <p:spPr>
          <a:xfrm>
            <a:off x="7351712" y="44196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0652475-9C37-D778-F6B2-DE9F50F8571A}"/>
              </a:ext>
            </a:extLst>
          </p:cNvPr>
          <p:cNvSpPr/>
          <p:nvPr userDrawn="1"/>
        </p:nvSpPr>
        <p:spPr>
          <a:xfrm>
            <a:off x="8609012" y="-21999"/>
            <a:ext cx="3579812" cy="6901998"/>
          </a:xfrm>
          <a:custGeom>
            <a:avLst/>
            <a:gdLst>
              <a:gd name="connsiteX0" fmla="*/ 3450999 w 3579812"/>
              <a:gd name="connsiteY0" fmla="*/ 0 h 6901998"/>
              <a:gd name="connsiteX1" fmla="*/ 3579812 w 3579812"/>
              <a:gd name="connsiteY1" fmla="*/ 3257 h 6901998"/>
              <a:gd name="connsiteX2" fmla="*/ 3579812 w 3579812"/>
              <a:gd name="connsiteY2" fmla="*/ 6898741 h 6901998"/>
              <a:gd name="connsiteX3" fmla="*/ 3450999 w 3579812"/>
              <a:gd name="connsiteY3" fmla="*/ 6901998 h 6901998"/>
              <a:gd name="connsiteX4" fmla="*/ 0 w 3579812"/>
              <a:gd name="connsiteY4" fmla="*/ 3450999 h 6901998"/>
              <a:gd name="connsiteX5" fmla="*/ 3450999 w 3579812"/>
              <a:gd name="connsiteY5" fmla="*/ 0 h 6901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9812" h="6901998">
                <a:moveTo>
                  <a:pt x="3450999" y="0"/>
                </a:moveTo>
                <a:lnTo>
                  <a:pt x="3579812" y="3257"/>
                </a:lnTo>
                <a:lnTo>
                  <a:pt x="3579812" y="6898741"/>
                </a:lnTo>
                <a:lnTo>
                  <a:pt x="3450999" y="6901998"/>
                </a:lnTo>
                <a:cubicBezTo>
                  <a:pt x="1545065" y="6901998"/>
                  <a:pt x="0" y="5356933"/>
                  <a:pt x="0" y="3450999"/>
                </a:cubicBezTo>
                <a:cubicBezTo>
                  <a:pt x="0" y="1545065"/>
                  <a:pt x="1545065" y="0"/>
                  <a:pt x="3450999" y="0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7288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647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93288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94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917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1549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25429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5FB068A-9EE1-FCD9-54F9-D1322A68868B}"/>
              </a:ext>
            </a:extLst>
          </p:cNvPr>
          <p:cNvSpPr/>
          <p:nvPr userDrawn="1"/>
        </p:nvSpPr>
        <p:spPr>
          <a:xfrm>
            <a:off x="2132012" y="0"/>
            <a:ext cx="7924800" cy="6858000"/>
          </a:xfrm>
          <a:custGeom>
            <a:avLst/>
            <a:gdLst>
              <a:gd name="connsiteX0" fmla="*/ 1982890 w 7924800"/>
              <a:gd name="connsiteY0" fmla="*/ 0 h 6858000"/>
              <a:gd name="connsiteX1" fmla="*/ 5941911 w 7924800"/>
              <a:gd name="connsiteY1" fmla="*/ 0 h 6858000"/>
              <a:gd name="connsiteX2" fmla="*/ 6177816 w 7924800"/>
              <a:gd name="connsiteY2" fmla="*/ 143316 h 6858000"/>
              <a:gd name="connsiteX3" fmla="*/ 7924800 w 7924800"/>
              <a:gd name="connsiteY3" fmla="*/ 3429000 h 6858000"/>
              <a:gd name="connsiteX4" fmla="*/ 6017049 w 7924800"/>
              <a:gd name="connsiteY4" fmla="*/ 6817750 h 6858000"/>
              <a:gd name="connsiteX5" fmla="*/ 5947047 w 7924800"/>
              <a:gd name="connsiteY5" fmla="*/ 6858000 h 6858000"/>
              <a:gd name="connsiteX6" fmla="*/ 1977753 w 7924800"/>
              <a:gd name="connsiteY6" fmla="*/ 6858000 h 6858000"/>
              <a:gd name="connsiteX7" fmla="*/ 1907752 w 7924800"/>
              <a:gd name="connsiteY7" fmla="*/ 6817750 h 6858000"/>
              <a:gd name="connsiteX8" fmla="*/ 0 w 7924800"/>
              <a:gd name="connsiteY8" fmla="*/ 3429000 h 6858000"/>
              <a:gd name="connsiteX9" fmla="*/ 1746985 w 7924800"/>
              <a:gd name="connsiteY9" fmla="*/ 143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24800" h="6858000">
                <a:moveTo>
                  <a:pt x="1982890" y="0"/>
                </a:moveTo>
                <a:lnTo>
                  <a:pt x="5941911" y="0"/>
                </a:lnTo>
                <a:lnTo>
                  <a:pt x="6177816" y="143316"/>
                </a:lnTo>
                <a:cubicBezTo>
                  <a:pt x="7231821" y="855388"/>
                  <a:pt x="7924800" y="2061267"/>
                  <a:pt x="7924800" y="3429000"/>
                </a:cubicBezTo>
                <a:cubicBezTo>
                  <a:pt x="7924800" y="4865120"/>
                  <a:pt x="7160790" y="6122796"/>
                  <a:pt x="6017049" y="6817750"/>
                </a:cubicBezTo>
                <a:lnTo>
                  <a:pt x="5947047" y="6858000"/>
                </a:lnTo>
                <a:lnTo>
                  <a:pt x="1977753" y="6858000"/>
                </a:lnTo>
                <a:lnTo>
                  <a:pt x="1907752" y="6817750"/>
                </a:lnTo>
                <a:cubicBezTo>
                  <a:pt x="764010" y="6122796"/>
                  <a:pt x="0" y="4865120"/>
                  <a:pt x="0" y="3429000"/>
                </a:cubicBezTo>
                <a:cubicBezTo>
                  <a:pt x="0" y="2061267"/>
                  <a:pt x="692980" y="855388"/>
                  <a:pt x="1746985" y="143316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6A409372-199C-2F3B-65CD-ADC2E45B43B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7599E9-7877-89FF-8C57-FEF4C3C86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>
            <a:lvl1pPr marL="0" indent="0" algn="r">
              <a:lnSpc>
                <a:spcPct val="11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22A2F27B-8DDF-057C-B969-50B4B8C3D2A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68305" y="2247900"/>
            <a:ext cx="4443413" cy="2400300"/>
          </a:xfrm>
        </p:spPr>
        <p:txBody>
          <a:bodyPr anchor="ctr">
            <a:normAutofit/>
          </a:bodyPr>
          <a:lstStyle>
            <a:lvl1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45720" indent="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tx1">
                  <a:lumMod val="65000"/>
                  <a:lumOff val="35000"/>
                </a:schemeClr>
              </a:buClr>
              <a:buSzPct val="80000"/>
              <a:buFont typeface="Arial" pitchFamily="34" charset="0"/>
              <a:buNone/>
              <a:defRPr lang="en-US" sz="2000" kern="1200" spc="3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3367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1065212" y="533400"/>
            <a:ext cx="8686801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2" y="1828800"/>
            <a:ext cx="8686801" cy="4191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5213" y="6155267"/>
            <a:ext cx="5653087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32612" y="6155267"/>
            <a:ext cx="1371600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2812" y="6155267"/>
            <a:ext cx="1219201" cy="2730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670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2" r:id="rId2"/>
    <p:sldLayoutId id="2147483695" r:id="rId3"/>
    <p:sldLayoutId id="2147483685" r:id="rId4"/>
    <p:sldLayoutId id="2147483662" r:id="rId5"/>
    <p:sldLayoutId id="2147483682" r:id="rId6"/>
    <p:sldLayoutId id="2147483696" r:id="rId7"/>
    <p:sldLayoutId id="2147483693" r:id="rId8"/>
    <p:sldLayoutId id="2147483692" r:id="rId9"/>
    <p:sldLayoutId id="2147483676" r:id="rId10"/>
    <p:sldLayoutId id="2147483665" r:id="rId11"/>
    <p:sldLayoutId id="2147483688" r:id="rId12"/>
    <p:sldLayoutId id="2147483686" r:id="rId13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772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601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65000"/>
            <a:lumOff val="35000"/>
          </a:schemeClr>
        </a:buClr>
        <a:buSzPct val="80000"/>
        <a:buFont typeface="Arial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3444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37160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50876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45920" indent="-13716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94216" y="2240555"/>
            <a:ext cx="10287000" cy="3886200"/>
          </a:xfrm>
        </p:spPr>
        <p:txBody>
          <a:bodyPr anchor="b">
            <a:normAutofit/>
          </a:bodyPr>
          <a:lstStyle/>
          <a:p>
            <a:pPr algn="ctr"/>
            <a:r>
              <a:rPr lang="en-US" sz="4400">
                <a:solidFill>
                  <a:srgbClr val="B8A55F"/>
                </a:solidFill>
                <a:latin typeface="Selawik"/>
                <a:ea typeface="+mj-lt"/>
                <a:cs typeface="+mj-lt"/>
              </a:rPr>
              <a:t>Iowa Distribution -</a:t>
            </a:r>
            <a:r>
              <a:rPr lang="en-US" sz="4400" dirty="0">
                <a:solidFill>
                  <a:srgbClr val="B8A55F"/>
                </a:solidFill>
                <a:latin typeface="Selawik"/>
                <a:ea typeface="+mj-lt"/>
                <a:cs typeface="+mj-lt"/>
              </a:rPr>
              <a:t> Competitive Position, Risk Assessment &amp; Growth Opportunity</a:t>
            </a:r>
            <a:br>
              <a:rPr lang="en-US" sz="4400" dirty="0">
                <a:solidFill>
                  <a:srgbClr val="B8A55F"/>
                </a:solidFill>
                <a:latin typeface="Selawik"/>
                <a:ea typeface="+mj-lt"/>
                <a:cs typeface="+mj-lt"/>
              </a:rPr>
            </a:br>
            <a:endParaRPr lang="en-US" sz="4400">
              <a:latin typeface="Selawik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elawik"/>
              </a:rPr>
              <a:t>By : Sultan </a:t>
            </a:r>
            <a:r>
              <a:rPr lang="en-US" sz="2800">
                <a:latin typeface="Selawik"/>
              </a:rPr>
              <a:t>Simsek</a:t>
            </a:r>
            <a:endParaRPr lang="en-US" sz="2800" dirty="0">
              <a:latin typeface="Selawik"/>
            </a:endParaRPr>
          </a:p>
        </p:txBody>
      </p:sp>
      <p:pic>
        <p:nvPicPr>
          <p:cNvPr id="2" name="Picture 1" descr="A black and white image of a building&#10;&#10;AI-generated content may be incorrect.">
            <a:extLst>
              <a:ext uri="{FF2B5EF4-FFF2-40B4-BE49-F238E27FC236}">
                <a16:creationId xmlns:a16="http://schemas.microsoft.com/office/drawing/2014/main" id="{3EF3F9F3-3C41-1ECA-8B9C-B4978F890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683" y="319402"/>
            <a:ext cx="5056469" cy="2795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8B68A17-565E-5F07-D76E-981C2E327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1104681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B8A55F"/>
                </a:solidFill>
              </a:rPr>
              <a:t>Scenario</a:t>
            </a:r>
            <a:endParaRPr lang="en-US" dirty="0">
              <a:solidFill>
                <a:srgbClr val="B8A55F"/>
              </a:solidFill>
            </a:endParaRP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5F9B3AFF-B6EA-2F80-95AA-6BE5BD22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6700394" cy="4114799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331470" indent="-285750">
              <a:buFont typeface="Calibri" pitchFamily="34" charset="0"/>
              <a:buChar char="-"/>
            </a:pPr>
            <a:r>
              <a:rPr lang="en-US"/>
              <a:t>I was hired as a data analyst consultant by Sazerac to evaluate their market performance across 99 counties of Iowa state. </a:t>
            </a:r>
          </a:p>
          <a:p>
            <a:pPr marL="331470" indent="-285750">
              <a:buFont typeface="Calibri" pitchFamily="34" charset="0"/>
              <a:buChar char="-"/>
            </a:pPr>
            <a:r>
              <a:rPr lang="en-US"/>
              <a:t>The objective was to conduct a SWOT analysis using records from 2014 on sales, store distribution, and demographic data to identify growth opportunities, operational inefficiencies, and competitive positioning.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812" y="495300"/>
            <a:ext cx="4572000" cy="586740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B8A55F"/>
                </a:solidFill>
              </a:rPr>
              <a:t>Data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4"/>
          </p:nvPr>
        </p:nvSpPr>
        <p:spPr>
          <a:xfrm>
            <a:off x="6835732" y="1083066"/>
            <a:ext cx="1066850" cy="1262870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en-US" sz="3200" b="1"/>
              <a:t>#2</a:t>
            </a:r>
          </a:p>
          <a:p>
            <a:r>
              <a:rPr lang="en-US" sz="1600">
                <a:solidFill>
                  <a:srgbClr val="B8A55F"/>
                </a:solidFill>
              </a:rPr>
              <a:t>In the 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08A3DB-1515-AA5C-C72A-D6771F527B59}"/>
              </a:ext>
            </a:extLst>
          </p:cNvPr>
          <p:cNvSpPr txBox="1"/>
          <p:nvPr/>
        </p:nvSpPr>
        <p:spPr>
          <a:xfrm>
            <a:off x="9115008" y="2076156"/>
            <a:ext cx="1373758" cy="1292662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/>
              <a:t>%68</a:t>
            </a:r>
            <a:endParaRPr lang="en-US" sz="2400" b="1" dirty="0"/>
          </a:p>
          <a:p>
            <a:r>
              <a:rPr lang="en-US" b="1"/>
              <a:t>Of market</a:t>
            </a:r>
            <a:r>
              <a:rPr lang="en-US" dirty="0"/>
              <a:t> </a:t>
            </a:r>
            <a:r>
              <a:rPr lang="en-US">
                <a:solidFill>
                  <a:srgbClr val="B8A55F"/>
                </a:solidFill>
              </a:rPr>
              <a:t>in leading categor</a:t>
            </a:r>
            <a:r>
              <a:rPr lang="en-US" dirty="0">
                <a:solidFill>
                  <a:srgbClr val="B8A55F"/>
                </a:solidFill>
              </a:rPr>
              <a:t>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096CD2-9DEC-E1A3-F948-458DF2C476B6}"/>
              </a:ext>
            </a:extLst>
          </p:cNvPr>
          <p:cNvSpPr txBox="1"/>
          <p:nvPr/>
        </p:nvSpPr>
        <p:spPr>
          <a:xfrm>
            <a:off x="7013273" y="3137660"/>
            <a:ext cx="1382424" cy="156966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3rd </a:t>
            </a:r>
            <a:endParaRPr lang="en-US"/>
          </a:p>
          <a:p>
            <a:r>
              <a:rPr lang="en-US">
                <a:solidFill>
                  <a:srgbClr val="B8A55F"/>
                </a:solidFill>
              </a:rPr>
              <a:t>In number </a:t>
            </a:r>
            <a:r>
              <a:rPr lang="en-US" dirty="0">
                <a:solidFill>
                  <a:srgbClr val="B8A55F"/>
                </a:solidFill>
              </a:rPr>
              <a:t>of stores across state</a:t>
            </a:r>
          </a:p>
        </p:txBody>
      </p:sp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3949310" cy="706017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rgbClr val="B8A55F"/>
                </a:solidFill>
              </a:rPr>
              <a:t>Strength:</a:t>
            </a:r>
            <a:endParaRPr lang="en-US" sz="2000" dirty="0">
              <a:solidFill>
                <a:srgbClr val="B8A55F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Content Placeholder 3" descr="A blue circle with a triangle in the middle&#10;&#10;AI-generated content may be incorrect.">
            <a:extLst>
              <a:ext uri="{FF2B5EF4-FFF2-40B4-BE49-F238E27FC236}">
                <a16:creationId xmlns:a16="http://schemas.microsoft.com/office/drawing/2014/main" id="{6C078C16-C902-E324-40AF-290BCEB854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4364" y="962056"/>
            <a:ext cx="8210252" cy="557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B8A55F"/>
                </a:solidFill>
              </a:rPr>
              <a:t>Strength 2: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AAEAE4A8-A6E5-453E-B946-FB774B73F48C}" type="slidenum">
              <a:rPr lang="en-US" sz="200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2000"/>
          </a:p>
        </p:txBody>
      </p:sp>
      <p:pic>
        <p:nvPicPr>
          <p:cNvPr id="6" name="Content Placeholder 5" descr="A graph of sales&#10;&#10;AI-generated content may be incorrect.">
            <a:extLst>
              <a:ext uri="{FF2B5EF4-FFF2-40B4-BE49-F238E27FC236}">
                <a16:creationId xmlns:a16="http://schemas.microsoft.com/office/drawing/2014/main" id="{9AFE7221-37D3-E6B9-EDFF-0F4738A1F414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907454" y="1092898"/>
            <a:ext cx="9161270" cy="556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B8A55F"/>
                </a:solidFill>
              </a:rPr>
              <a:t>Weakness: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1D30DF89-A971-C0C0-DBFA-6B34FA42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0999251-AE5C-755A-9C2C-7B54507B6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168" y="993797"/>
            <a:ext cx="9478875" cy="573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>
                <a:solidFill>
                  <a:srgbClr val="B8A55F"/>
                </a:solidFill>
              </a:rPr>
              <a:t>Weakness 2:</a:t>
            </a:r>
            <a:endParaRPr lang="en-US" dirty="0">
              <a:solidFill>
                <a:srgbClr val="B8A55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C133874-C271-C551-6FA8-8A11BDFBF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18" y="993701"/>
            <a:ext cx="7864389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FC717FE-BCED-84E0-51E6-EE31F034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/>
          <a:lstStyle/>
          <a:p>
            <a:r>
              <a:rPr lang="en-US">
                <a:solidFill>
                  <a:srgbClr val="B8A55F"/>
                </a:solidFill>
              </a:rPr>
              <a:t>Opportunity: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652DE34-4989-AC0A-F228-768A82B908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704" y="1331305"/>
            <a:ext cx="8104891" cy="507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B8A55F"/>
                </a:solidFill>
              </a:rPr>
              <a:t>Opportunity 2: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4D93-77B3-30E7-82AA-970D214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E4E6DB-06EC-7AFF-6DBF-D8D1D38E8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134" y="1315632"/>
            <a:ext cx="9609863" cy="492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>
                <a:solidFill>
                  <a:srgbClr val="B8A55F"/>
                </a:solidFill>
              </a:rPr>
              <a:t>Threat:</a:t>
            </a:r>
            <a:endParaRPr lang="en-US" dirty="0">
              <a:solidFill>
                <a:srgbClr val="B8A55F"/>
              </a:solidFill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Content Placeholder 8" descr="A map of the state of iowa&#10;&#10;AI-generated content may be incorrect.">
            <a:extLst>
              <a:ext uri="{FF2B5EF4-FFF2-40B4-BE49-F238E27FC236}">
                <a16:creationId xmlns:a16="http://schemas.microsoft.com/office/drawing/2014/main" id="{DA84B18C-45B1-C943-34D6-FE902F86835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713360" y="1107354"/>
            <a:ext cx="8983342" cy="526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/>
          <a:lstStyle/>
          <a:p>
            <a:r>
              <a:rPr lang="en-US">
                <a:solidFill>
                  <a:srgbClr val="B8A55F"/>
                </a:solidFill>
              </a:rPr>
              <a:t>Threat 2:</a:t>
            </a:r>
            <a:endParaRPr lang="en-US" dirty="0">
              <a:solidFill>
                <a:srgbClr val="B8A55F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9" name="Content Placeholder 8" descr="A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3257B8AD-5D1A-B98B-A10B-66A0083B61C4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3153805" y="496377"/>
            <a:ext cx="8283640" cy="612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95" y="510863"/>
            <a:ext cx="5313685" cy="58674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B8A55F"/>
                </a:solidFill>
              </a:rPr>
              <a:t>Summary/</a:t>
            </a:r>
            <a:br>
              <a:rPr lang="en-US" sz="4000" dirty="0">
                <a:solidFill>
                  <a:srgbClr val="B8A55F"/>
                </a:solidFill>
              </a:rPr>
            </a:br>
            <a:r>
              <a:rPr lang="en-US" sz="4000">
                <a:solidFill>
                  <a:srgbClr val="B8A55F"/>
                </a:solidFill>
              </a:rPr>
              <a:t>Recommendations</a:t>
            </a:r>
            <a:endParaRPr lang="en-US" sz="4000" dirty="0">
              <a:solidFill>
                <a:srgbClr val="262626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47558" y="2450216"/>
            <a:ext cx="4443413" cy="2400300"/>
          </a:xfrm>
        </p:spPr>
        <p:txBody>
          <a:bodyPr anchor="ctr">
            <a:normAutofit/>
          </a:bodyPr>
          <a:lstStyle/>
          <a:p>
            <a:pPr marL="388620" indent="-342900">
              <a:buFont typeface="Calibri" pitchFamily="34" charset="0"/>
              <a:buChar char="-"/>
            </a:pPr>
            <a:r>
              <a:rPr lang="en-US"/>
              <a:t>Do not start over.</a:t>
            </a:r>
          </a:p>
          <a:p>
            <a:pPr marL="388620" indent="-342900">
              <a:buClr>
                <a:srgbClr val="595959"/>
              </a:buClr>
              <a:buFont typeface="Calibri" pitchFamily="34" charset="0"/>
              <a:buChar char="-"/>
            </a:pPr>
            <a:r>
              <a:rPr lang="en-US"/>
              <a:t>Build on the relationships.</a:t>
            </a:r>
          </a:p>
          <a:p>
            <a:pPr marL="388620" indent="-342900">
              <a:buClr>
                <a:srgbClr val="595959"/>
              </a:buClr>
              <a:buFont typeface="Calibri" pitchFamily="34" charset="0"/>
              <a:buChar char="-"/>
            </a:pPr>
            <a:r>
              <a:rPr lang="en-US"/>
              <a:t>Enter 2 or 3 new categories.</a:t>
            </a:r>
          </a:p>
          <a:p>
            <a:pPr marL="388620" indent="-342900">
              <a:buClr>
                <a:srgbClr val="595959"/>
              </a:buClr>
              <a:buFont typeface="Calibri" pitchFamily="34" charset="0"/>
              <a:buChar char="-"/>
            </a:pPr>
            <a:r>
              <a:rPr lang="en-US"/>
              <a:t>Convert high-budget stores.</a:t>
            </a:r>
          </a:p>
          <a:p>
            <a:pPr marL="388620" indent="-342900">
              <a:buClr>
                <a:srgbClr val="595959"/>
              </a:buClr>
              <a:buFont typeface="Calibri" pitchFamily="34" charset="0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4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E1EAED"/>
      </a:accent6>
      <a:hlink>
        <a:srgbClr val="9454C3"/>
      </a:hlink>
      <a:folHlink>
        <a:srgbClr val="3EBBF0"/>
      </a:folHlink>
    </a:clrScheme>
    <a:fontScheme name="Custom 30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M03460663_win32_LW_V6" id="{E98E9C9B-9291-4B47-BC4D-DAE7B5F9EC1B}" vid="{225AF68F-18F0-421B-8B78-1F33E1A33B6C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332</Words>
  <Application>Microsoft Office PowerPoint</Application>
  <PresentationFormat>Custom</PresentationFormat>
  <Paragraphs>108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Custom</vt:lpstr>
      <vt:lpstr>Iowa Distribution - Competitive Position, Risk Assessment &amp; Growth Opportunity </vt:lpstr>
      <vt:lpstr>Scenario</vt:lpstr>
      <vt:lpstr>Data Summary</vt:lpstr>
      <vt:lpstr>Strength:</vt:lpstr>
      <vt:lpstr>Strength 2:</vt:lpstr>
      <vt:lpstr>Weakness:</vt:lpstr>
      <vt:lpstr>Weakness 2:</vt:lpstr>
      <vt:lpstr>Opportunity:</vt:lpstr>
      <vt:lpstr>Opportunity 2:</vt:lpstr>
      <vt:lpstr>Threat:</vt:lpstr>
      <vt:lpstr>Threat 2:</vt:lpstr>
      <vt:lpstr>Summary/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210</cp:revision>
  <dcterms:created xsi:type="dcterms:W3CDTF">2026-05-01T11:03:57Z</dcterms:created>
  <dcterms:modified xsi:type="dcterms:W3CDTF">2026-05-01T13:46:52Z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